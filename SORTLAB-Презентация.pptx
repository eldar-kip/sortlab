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Corbel" panose="020B0503020204020204" pitchFamily="34" charset="0"/>
      <p:regular r:id="rId22"/>
      <p:bold r:id="rId23"/>
      <p:italic r:id="rId24"/>
      <p:boldItalic r:id="rId25"/>
    </p:embeddedFont>
    <p:embeddedFont>
      <p:font typeface="Noto Sans Bold" panose="020B0502040504020204" pitchFamily="34" charset="0"/>
      <p:regular r:id="rId26"/>
      <p:bold r:id="rId27"/>
    </p:embeddedFont>
    <p:embeddedFont>
      <p:font typeface="Onest" pitchFamily="2" charset="0"/>
      <p:regular r:id="rId28"/>
    </p:embeddedFont>
    <p:embeddedFont>
      <p:font typeface="Onest Bold" pitchFamily="2" charset="0"/>
      <p:regular r:id="rId29"/>
      <p:bold r:id="rId30"/>
    </p:embeddedFont>
    <p:embeddedFont>
      <p:font typeface="Onest SemiBold" pitchFamily="2" charset="0"/>
      <p:regular r:id="rId31"/>
      <p:bold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8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6880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Приветствую членов комиссии. Представляю проект SORTLAB — интерактивную лабораторию для визуального и сравнительного изучения алгоритмов сортировки.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Студенты легко запоминают формулы асимптотики, но с трудом понимают внутреннюю механику работы с памятью и структурой данных. Наш проект устраняет этот барьер.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SORTLAB не просто показывает красивые столбики, а ведет учащегося по полному циклу усвоения: от строгого математического доказательства до бенчмарка.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разделена на независимый вычислительный движок и легковесную визуальную оболочку, что позволило контейнеризировать сервис под Alpine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Ключевое техническое решение — полный отказ от async/await и setTimeout внутри алгоритмов. Сначала мгновенно пишется история, затем плеер управляет воспроизведением.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алгоритм снабжен подсветкой специфических ролей: флаг завершенности, индекс минимального элемента и текущий шаг просеивания.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Особая гордость — синхронная отрисовка пирамиды для Heap Sort и демонстрация патологических случаев Quick Sort, что наглядно объясняет необходимость медианного выбора.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столбец обладает не просто цветом, но и графическим символом, что сохраняет читаемость даже для пользователей с особенностями цветовосприятия.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Сравнительный стенд решает классическую проблему школьных визуализаторов, где быстрая сортировка кажется медленнее пузырьковой из-за сложности анимации рекурсии.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1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17141"/>
            <a:ext cx="690862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144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ДИСЦИПЛИНА «АЛГОРИТМЫ И СТРУКТУРЫ ДАННЫХ»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585" y="1966186"/>
            <a:ext cx="6908627" cy="1476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b="1" kern="100" spc="-95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SORTLAB — интерактивная </a:t>
            </a:r>
            <a:r>
              <a:rPr lang="en-US" sz="3800" b="1" kern="100" spc="-95" dirty="0">
                <a:solidFill>
                  <a:srgbClr val="7FA6F2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лаборатория визуализации</a:t>
            </a:r>
            <a:r>
              <a:rPr lang="en-US" sz="3800" b="1" kern="100" spc="-95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 алгоритмов сортировки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585" y="3683397"/>
            <a:ext cx="711182" cy="31651"/>
          </a:xfrm>
          <a:prstGeom prst="roundRect">
            <a:avLst>
              <a:gd name="adj" fmla="val 49998"/>
            </a:avLst>
          </a:prstGeom>
          <a:solidFill>
            <a:srgbClr val="7FA6F2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942159"/>
            <a:ext cx="6908627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Изучай алгоритмы. Наблюдай за каждым шагом. Сравнивай эффективность.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4750792"/>
            <a:ext cx="3301917" cy="49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150" kern="100" spc="11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Выполнил: </a:t>
            </a:r>
            <a:r>
              <a:rPr lang="ru-RU" sz="1150" kern="100" spc="11" dirty="0" err="1">
                <a:solidFill>
                  <a:srgbClr val="B4C2EC"/>
                </a:solidFill>
                <a:latin typeface="Onest" pitchFamily="34" charset="0"/>
              </a:rPr>
              <a:t>Оджа</a:t>
            </a:r>
            <a:r>
              <a:rPr lang="ru-RU" sz="1150" kern="100" spc="11" dirty="0">
                <a:solidFill>
                  <a:srgbClr val="B4C2EC"/>
                </a:solidFill>
                <a:latin typeface="Onest" pitchFamily="34" charset="0"/>
              </a:rPr>
              <a:t> Эльдар</a:t>
            </a:r>
            <a:r>
              <a:rPr lang="en-US" sz="1150" kern="100" spc="11" dirty="0">
                <a:solidFill>
                  <a:srgbClr val="B4C2EC"/>
                </a:solidFill>
                <a:latin typeface="Onest" pitchFamily="34" charset="0"/>
              </a:rPr>
              <a:t>;</a:t>
            </a:r>
            <a:r>
              <a:rPr lang="ru-RU" sz="1150" kern="100" spc="11" dirty="0">
                <a:solidFill>
                  <a:srgbClr val="B4C2EC"/>
                </a:solidFill>
                <a:latin typeface="Onest" pitchFamily="34" charset="0"/>
              </a:rPr>
              <a:t> </a:t>
            </a:r>
            <a:r>
              <a:rPr lang="ru-RU" sz="1150" kern="100" spc="11" dirty="0" err="1">
                <a:solidFill>
                  <a:srgbClr val="B4C2EC"/>
                </a:solidFill>
                <a:latin typeface="Onest" pitchFamily="34" charset="0"/>
              </a:rPr>
              <a:t>Сеит</a:t>
            </a:r>
            <a:r>
              <a:rPr lang="ru-RU" sz="1150" kern="100" spc="11" dirty="0">
                <a:solidFill>
                  <a:srgbClr val="B4C2EC"/>
                </a:solidFill>
                <a:latin typeface="Onest" pitchFamily="34" charset="0"/>
              </a:rPr>
              <a:t>-Велиев Эмир</a:t>
            </a:r>
            <a:r>
              <a:rPr lang="en-US" sz="1150" kern="100" spc="11" dirty="0">
                <a:solidFill>
                  <a:srgbClr val="B4C2EC"/>
                </a:solidFill>
                <a:latin typeface="Onest" pitchFamily="34" charset="0"/>
              </a:rPr>
              <a:t>;</a:t>
            </a:r>
            <a:endParaRPr lang="ru-RU" sz="1150" kern="100" spc="11" dirty="0">
              <a:solidFill>
                <a:srgbClr val="B4C2EC"/>
              </a:solidFill>
              <a:latin typeface="Onest" pitchFamily="34" charset="0"/>
            </a:endParaRPr>
          </a:p>
          <a:p>
            <a:pPr>
              <a:lnSpc>
                <a:spcPct val="108000"/>
              </a:lnSpc>
            </a:pPr>
            <a:r>
              <a:rPr lang="ru-RU" sz="1150" kern="100" spc="11" dirty="0">
                <a:solidFill>
                  <a:srgbClr val="B4C2EC"/>
                </a:solidFill>
                <a:latin typeface="Onest" pitchFamily="34" charset="0"/>
              </a:rPr>
              <a:t>Османов Руслан</a:t>
            </a:r>
            <a:r>
              <a:rPr lang="en-US" sz="1150" kern="100" spc="11" dirty="0">
                <a:solidFill>
                  <a:srgbClr val="B4C2EC"/>
                </a:solidFill>
                <a:latin typeface="Onest" pitchFamily="34" charset="0"/>
              </a:rPr>
              <a:t>;</a:t>
            </a:r>
            <a:r>
              <a:rPr lang="ru-RU" sz="1150" kern="100" spc="11" dirty="0">
                <a:solidFill>
                  <a:srgbClr val="B4C2EC"/>
                </a:solidFill>
                <a:latin typeface="Onest" pitchFamily="34" charset="0"/>
              </a:rPr>
              <a:t> Типпа Эбазер</a:t>
            </a:r>
            <a:r>
              <a:rPr lang="en-US" sz="1150" kern="100" spc="11" dirty="0">
                <a:solidFill>
                  <a:srgbClr val="B4C2EC"/>
                </a:solidFill>
                <a:latin typeface="Onest" pitchFamily="34" charset="0"/>
              </a:rPr>
              <a:t>;</a:t>
            </a:r>
            <a:r>
              <a:rPr lang="ru-RU" sz="1150" kern="100" spc="11" dirty="0">
                <a:solidFill>
                  <a:srgbClr val="B4C2EC"/>
                </a:solidFill>
                <a:latin typeface="Onest" pitchFamily="34" charset="0"/>
              </a:rPr>
              <a:t> </a:t>
            </a:r>
            <a:r>
              <a:rPr lang="ru-RU" sz="1150" kern="100" spc="11" dirty="0" err="1">
                <a:solidFill>
                  <a:srgbClr val="B4C2EC"/>
                </a:solidFill>
                <a:latin typeface="Onest" pitchFamily="34" charset="0"/>
              </a:rPr>
              <a:t>Аблялимов</a:t>
            </a:r>
            <a:r>
              <a:rPr lang="ru-RU" sz="1150" kern="100" spc="11" dirty="0">
                <a:solidFill>
                  <a:srgbClr val="B4C2EC"/>
                </a:solidFill>
                <a:latin typeface="Onest" pitchFamily="34" charset="0"/>
              </a:rPr>
              <a:t> Ильяс</a:t>
            </a:r>
            <a:r>
              <a:rPr lang="en-US" sz="1150" kern="100" spc="11" dirty="0">
                <a:solidFill>
                  <a:srgbClr val="B4C2EC"/>
                </a:solidFill>
                <a:latin typeface="Onest" pitchFamily="34" charset="0"/>
              </a:rPr>
              <a:t>; </a:t>
            </a:r>
            <a:r>
              <a:rPr lang="ru-RU" sz="1150" kern="100" spc="11" dirty="0" err="1">
                <a:solidFill>
                  <a:srgbClr val="B4C2EC"/>
                </a:solidFill>
                <a:latin typeface="Onest" pitchFamily="34" charset="0"/>
              </a:rPr>
              <a:t>Аксизов</a:t>
            </a:r>
            <a:r>
              <a:rPr lang="ru-RU" sz="1150" kern="100" spc="11" dirty="0">
                <a:solidFill>
                  <a:srgbClr val="B4C2EC"/>
                </a:solidFill>
                <a:latin typeface="Onest" pitchFamily="34" charset="0"/>
              </a:rPr>
              <a:t> Эрвин</a:t>
            </a:r>
          </a:p>
        </p:txBody>
      </p:sp>
      <p:sp>
        <p:nvSpPr>
          <p:cNvPr id="7" name="Text 5"/>
          <p:cNvSpPr/>
          <p:nvPr/>
        </p:nvSpPr>
        <p:spPr>
          <a:xfrm>
            <a:off x="4216295" y="4750792"/>
            <a:ext cx="3301917" cy="690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850"/>
              </a:spcAft>
              <a:buNone/>
            </a:pPr>
            <a:r>
              <a:rPr lang="en-US" sz="1150" kern="100" spc="11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React 18 · TypeScript · Vite · Tailwind CSS · Docker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1" dirty="0">
                <a:solidFill>
                  <a:srgbClr val="E9EEFF"/>
                </a:solidFill>
                <a:highlight>
                  <a:srgbClr val="152060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github.com/eldar-kip/SORTLAB</a:t>
            </a:r>
            <a:endParaRPr lang="en-US" sz="11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7" y="0"/>
            <a:ext cx="812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019" y="0"/>
            <a:ext cx="81268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368691" y="609600"/>
            <a:ext cx="1675068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5" name="Text 1"/>
          <p:cNvSpPr/>
          <p:nvPr/>
        </p:nvSpPr>
        <p:spPr>
          <a:xfrm>
            <a:off x="4482988" y="657999"/>
            <a:ext cx="2056059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01 · ПРОБЛЕМА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4368691" y="1143718"/>
            <a:ext cx="7213420" cy="8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Между учебником и памятью </a:t>
            </a:r>
            <a:r>
              <a:rPr lang="en-US" sz="3400" b="1" kern="100" spc="-85" dirty="0">
                <a:solidFill>
                  <a:srgbClr val="7FA6F2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лежит разрыв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4368691" y="2509937"/>
            <a:ext cx="337811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Рекурсия без формы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368691" y="3009007"/>
            <a:ext cx="3378115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В Merge и Quick Sort по тексту кода невозможно увидеть стек вызовов и живые границы подмассивов.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203995" y="2509937"/>
            <a:ext cx="337811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Скрытая куча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203995" y="3009007"/>
            <a:ext cx="3378115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В Heap Sort сложно связать формулы индексов 2i+1 и 2i+2 с реальным двоичным деревом.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368691" y="4751685"/>
            <a:ext cx="337811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Абстрактный Big O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368691" y="5250755"/>
            <a:ext cx="3378115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Формулы O(n²) и O(n log n) остаются теорией и не дают физического ощущения разницы в числе операций.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8203995" y="4751685"/>
            <a:ext cx="337811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Решение SORTLAB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203995" y="5250755"/>
            <a:ext cx="3378115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Пошаговая анимация каждого сравнения, шаг назад в истории и регулировка темпа на лету.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7969051" y="2222004"/>
            <a:ext cx="12700" cy="2013148"/>
          </a:xfrm>
          <a:prstGeom prst="rect">
            <a:avLst/>
          </a:prstGeom>
          <a:solidFill>
            <a:srgbClr val="2B3A80"/>
          </a:solidFill>
          <a:ln/>
        </p:spPr>
      </p:sp>
      <p:sp>
        <p:nvSpPr>
          <p:cNvPr id="16" name="Shape 12"/>
          <p:cNvSpPr/>
          <p:nvPr/>
        </p:nvSpPr>
        <p:spPr>
          <a:xfrm>
            <a:off x="4368691" y="4228802"/>
            <a:ext cx="3606710" cy="12700"/>
          </a:xfrm>
          <a:prstGeom prst="rect">
            <a:avLst/>
          </a:prstGeom>
          <a:solidFill>
            <a:srgbClr val="2B3A80"/>
          </a:solidFill>
          <a:ln/>
        </p:spPr>
      </p:sp>
      <p:sp>
        <p:nvSpPr>
          <p:cNvPr id="17" name="Shape 13"/>
          <p:cNvSpPr/>
          <p:nvPr/>
        </p:nvSpPr>
        <p:spPr>
          <a:xfrm>
            <a:off x="7969051" y="4235152"/>
            <a:ext cx="12700" cy="2013248"/>
          </a:xfrm>
          <a:prstGeom prst="rect">
            <a:avLst/>
          </a:prstGeom>
          <a:solidFill>
            <a:srgbClr val="2B3A80"/>
          </a:solidFill>
          <a:ln/>
        </p:spPr>
      </p:sp>
      <p:sp>
        <p:nvSpPr>
          <p:cNvPr id="18" name="Shape 14"/>
          <p:cNvSpPr/>
          <p:nvPr/>
        </p:nvSpPr>
        <p:spPr>
          <a:xfrm>
            <a:off x="7975400" y="4228802"/>
            <a:ext cx="3606710" cy="12700"/>
          </a:xfrm>
          <a:prstGeom prst="rect">
            <a:avLst/>
          </a:prstGeom>
          <a:solidFill>
            <a:srgbClr val="2B3A8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826571" cy="283865"/>
          </a:xfrm>
          <a:prstGeom prst="roundRect">
            <a:avLst>
              <a:gd name="adj" fmla="val 32212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207562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02 · КОНЦЕПЦИЯ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64343"/>
            <a:ext cx="5333867" cy="132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Цель: замкнутый цикл </a:t>
            </a:r>
            <a:r>
              <a:rPr lang="en-US" sz="3400" b="1" kern="100" spc="-85" dirty="0">
                <a:solidFill>
                  <a:srgbClr val="FF6A3D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от теории до проверки знаний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145" y="2077069"/>
            <a:ext cx="507987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28119" y="2077069"/>
            <a:ext cx="431789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Теория и Big 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28119" y="2576139"/>
            <a:ext cx="4317892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8 алгоритмов, написанных с нуля без Array.prototype.sort()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145" y="3289324"/>
            <a:ext cx="507987" cy="508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28119" y="3289324"/>
            <a:ext cx="431789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Пошаговая лаборатория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828119" y="3788394"/>
            <a:ext cx="431789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9 разделов в одном SPA-приложении</a:t>
            </a:r>
            <a:endParaRPr lang="en-US" sz="1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2145" y="4221186"/>
            <a:ext cx="507987" cy="508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28119" y="4221186"/>
            <a:ext cx="431789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Сравнительный стенд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6828119" y="4720257"/>
            <a:ext cx="4317892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4 стратегии выбора опорного элемента в Quick Sort</a:t>
            </a:r>
            <a:endParaRPr lang="en-US" sz="1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2145" y="5433441"/>
            <a:ext cx="507987" cy="508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28119" y="5433441"/>
            <a:ext cx="431789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Практика и тест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6828119" y="5932511"/>
            <a:ext cx="431789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71 автотест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981250" cy="283865"/>
          </a:xfrm>
          <a:prstGeom prst="roundRect">
            <a:avLst>
              <a:gd name="adj" fmla="val 32212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362240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03 · АРХИТЕКТУРА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143718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Современный стек и запуск </a:t>
            </a:r>
            <a:r>
              <a:rPr lang="en-US" sz="3400" b="1" kern="100" spc="-85" dirty="0">
                <a:solidFill>
                  <a:srgbClr val="FF6A3D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одной командой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2069604"/>
            <a:ext cx="2514537" cy="2311301"/>
          </a:xfrm>
          <a:prstGeom prst="roundRect">
            <a:avLst>
              <a:gd name="adj" fmla="val 5275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4529" y="2304554"/>
            <a:ext cx="1212820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7" name="Text 5"/>
          <p:cNvSpPr/>
          <p:nvPr/>
        </p:nvSpPr>
        <p:spPr>
          <a:xfrm>
            <a:off x="966366" y="2369423"/>
            <a:ext cx="1578729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UI &amp; 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4529" y="2700734"/>
            <a:ext cx="20446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React 18 + 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4529" y="3199805"/>
            <a:ext cx="2044649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Строгая типизация состояний и иммутабельные структуры шагов.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28914" y="2069604"/>
            <a:ext cx="2514537" cy="2311301"/>
          </a:xfrm>
          <a:prstGeom prst="roundRect">
            <a:avLst>
              <a:gd name="adj" fmla="val 5275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63858" y="2304554"/>
            <a:ext cx="1650661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12" name="Text 10"/>
          <p:cNvSpPr/>
          <p:nvPr/>
        </p:nvSpPr>
        <p:spPr>
          <a:xfrm>
            <a:off x="3785696" y="2369423"/>
            <a:ext cx="2016571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BUILD &amp; STYLE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63858" y="2700734"/>
            <a:ext cx="20446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Vite 5 + Tailwind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63858" y="3199805"/>
            <a:ext cx="2044649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Мгновенный HMR, утилитарный дизайн и иконки Lucide.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48244" y="2069604"/>
            <a:ext cx="2514537" cy="2311301"/>
          </a:xfrm>
          <a:prstGeom prst="roundRect">
            <a:avLst>
              <a:gd name="adj" fmla="val 5275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83188" y="2304554"/>
            <a:ext cx="1597878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17" name="Text 15"/>
          <p:cNvSpPr/>
          <p:nvPr/>
        </p:nvSpPr>
        <p:spPr>
          <a:xfrm>
            <a:off x="6605025" y="2369423"/>
            <a:ext cx="1963788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METRICS &amp; QA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83188" y="2700734"/>
            <a:ext cx="20446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Recharts + Vitest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83188" y="3199805"/>
            <a:ext cx="2044649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Аппаратные замеры performance.now() и 71 тест алгоритмов.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067573" y="2069604"/>
            <a:ext cx="2514537" cy="2311301"/>
          </a:xfrm>
          <a:prstGeom prst="roundRect">
            <a:avLst>
              <a:gd name="adj" fmla="val 5275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2517" y="2304554"/>
            <a:ext cx="1514834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22" name="Text 20"/>
          <p:cNvSpPr/>
          <p:nvPr/>
        </p:nvSpPr>
        <p:spPr>
          <a:xfrm>
            <a:off x="9424355" y="2369423"/>
            <a:ext cx="1880744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DEPLOYMENT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02517" y="2700734"/>
            <a:ext cx="20446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Docker Compose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02517" y="3199805"/>
            <a:ext cx="2044649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Образ node:20-alpine, запуск без настройки окружения.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9585" y="4922937"/>
            <a:ext cx="10972526" cy="1325563"/>
          </a:xfrm>
          <a:prstGeom prst="rect">
            <a:avLst/>
          </a:prstGeom>
          <a:solidFill>
            <a:srgbClr val="080E33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0727" y="5135662"/>
            <a:ext cx="1066138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FFFF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РАЗВЕРТЫВАНИЕ СТЕНДА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0727" y="5406727"/>
            <a:ext cx="10661383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152060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git clone https://github.com/eldar-kip/SORTLAB &amp;&amp; docker compose up -d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20727" y="5849303"/>
            <a:ext cx="1066138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1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Готовое SPA-приложение доступно локально на порту 3000 сразу после выполнения команды.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192382" cy="283865"/>
          </a:xfrm>
          <a:prstGeom prst="roundRect">
            <a:avLst>
              <a:gd name="adj" fmla="val 32212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573372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04 · ЯДРО СИСТЕМЫ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143718"/>
            <a:ext cx="10972526" cy="8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Движок StepRecorder: каждый шаг как </a:t>
            </a:r>
            <a:r>
              <a:rPr lang="en-US" sz="3400" b="1" kern="100" spc="-85" dirty="0">
                <a:solidFill>
                  <a:srgbClr val="FF6A3D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снимок состояния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2512120"/>
            <a:ext cx="2514537" cy="1867396"/>
          </a:xfrm>
          <a:prstGeom prst="roundRect">
            <a:avLst>
              <a:gd name="adj" fmla="val 6529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2747070"/>
            <a:ext cx="82161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4529" y="3031530"/>
            <a:ext cx="2044649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8" name="Text 6"/>
          <p:cNvSpPr/>
          <p:nvPr/>
        </p:nvSpPr>
        <p:spPr>
          <a:xfrm>
            <a:off x="844529" y="3172420"/>
            <a:ext cx="20446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Входные данные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4529" y="3671491"/>
            <a:ext cx="2044649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Входной массив и настройки.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28914" y="2512120"/>
            <a:ext cx="2514537" cy="1867396"/>
          </a:xfrm>
          <a:prstGeom prst="roundRect">
            <a:avLst>
              <a:gd name="adj" fmla="val 6529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3858" y="2747070"/>
            <a:ext cx="85534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63858" y="3031530"/>
            <a:ext cx="2044649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13" name="Text 11"/>
          <p:cNvSpPr/>
          <p:nvPr/>
        </p:nvSpPr>
        <p:spPr>
          <a:xfrm>
            <a:off x="3663858" y="3172420"/>
            <a:ext cx="20446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Алгоритм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63858" y="3671491"/>
            <a:ext cx="2279593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Сортировка массива.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48244" y="2512120"/>
            <a:ext cx="2514537" cy="1867396"/>
          </a:xfrm>
          <a:prstGeom prst="roundRect">
            <a:avLst>
              <a:gd name="adj" fmla="val 6529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188" y="2747070"/>
            <a:ext cx="86764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83188" y="3031530"/>
            <a:ext cx="2044649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18" name="Text 16"/>
          <p:cNvSpPr/>
          <p:nvPr/>
        </p:nvSpPr>
        <p:spPr>
          <a:xfrm>
            <a:off x="6483188" y="3172420"/>
            <a:ext cx="20446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StepRecorder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83188" y="3671491"/>
            <a:ext cx="2279593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Массив SortingStep[].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067573" y="2512120"/>
            <a:ext cx="2514537" cy="1867396"/>
          </a:xfrm>
          <a:prstGeom prst="roundRect">
            <a:avLst>
              <a:gd name="adj" fmla="val 6529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2517" y="2747070"/>
            <a:ext cx="87320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302517" y="3031530"/>
            <a:ext cx="2044649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23" name="Text 21"/>
          <p:cNvSpPr/>
          <p:nvPr/>
        </p:nvSpPr>
        <p:spPr>
          <a:xfrm>
            <a:off x="9302517" y="3172420"/>
            <a:ext cx="20446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Плеер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02517" y="3671491"/>
            <a:ext cx="2044649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Воспроизведение шагов.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9585" y="4923631"/>
            <a:ext cx="5333867" cy="1324769"/>
          </a:xfrm>
          <a:prstGeom prst="rect">
            <a:avLst/>
          </a:prstGeom>
          <a:solidFill>
            <a:srgbClr val="080E33"/>
          </a:solidFill>
          <a:ln/>
        </p:spPr>
      </p:sp>
      <p:sp>
        <p:nvSpPr>
          <p:cNvPr id="26" name="Text 24"/>
          <p:cNvSpPr/>
          <p:nvPr/>
        </p:nvSpPr>
        <p:spPr>
          <a:xfrm>
            <a:off x="838179" y="5025231"/>
            <a:ext cx="4876678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Onest Bold" pitchFamily="34" charset="0"/>
                <a:ea typeface="Onest Bold" pitchFamily="34" charset="-122"/>
                <a:cs typeface="Onest Bold" pitchFamily="34" charset="0"/>
              </a:rPr>
              <a:t>Каждый кадр:</a:t>
            </a: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 снимок массива, роли элементов, точные счётчики операций и пояснение на русском. Шаг назад и перемотка без пересчёта и без сбоя счётчиков.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48244" y="4923631"/>
            <a:ext cx="5333867" cy="1324769"/>
          </a:xfrm>
          <a:prstGeom prst="rect">
            <a:avLst/>
          </a:prstGeom>
          <a:solidFill>
            <a:srgbClr val="080E33"/>
          </a:solidFill>
          <a:ln/>
        </p:spPr>
      </p:sp>
      <p:sp>
        <p:nvSpPr>
          <p:cNvPr id="28" name="Text 26"/>
          <p:cNvSpPr/>
          <p:nvPr/>
        </p:nvSpPr>
        <p:spPr>
          <a:xfrm>
            <a:off x="6476838" y="5025231"/>
            <a:ext cx="5105272" cy="293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Onest Bold" pitchFamily="34" charset="0"/>
                <a:ea typeface="Onest Bold" pitchFamily="34" charset="-122"/>
                <a:cs typeface="Onest Bold" pitchFamily="34" charset="0"/>
              </a:rPr>
              <a:t>Скорость меняется на лету</a:t>
            </a: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 через </a:t>
            </a:r>
            <a:r>
              <a:rPr lang="en-US" sz="1600" dirty="0">
                <a:solidFill>
                  <a:srgbClr val="FFFFFF"/>
                </a:solidFill>
                <a:highlight>
                  <a:srgbClr val="152060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useRef</a:t>
            </a: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832228" cy="283865"/>
          </a:xfrm>
          <a:prstGeom prst="roundRect">
            <a:avLst>
              <a:gd name="adj" fmla="val 32212"/>
            </a:avLst>
          </a:prstGeom>
          <a:solidFill>
            <a:srgbClr val="FFC233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3213218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05 · АЛГОРИТМЫ ГРУППЫ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191343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От базовых O(n²) </a:t>
            </a:r>
            <a:r>
              <a:rPr lang="en-US" sz="3400" b="1" kern="100" spc="-85" dirty="0">
                <a:solidFill>
                  <a:srgbClr val="FFC233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к адаптивным методам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1829197"/>
            <a:ext cx="2514537" cy="3865364"/>
          </a:xfrm>
          <a:prstGeom prst="roundRect">
            <a:avLst>
              <a:gd name="adj" fmla="val 4849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4529" y="2064147"/>
            <a:ext cx="1547774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7" name="Text 5"/>
          <p:cNvSpPr/>
          <p:nvPr/>
        </p:nvSpPr>
        <p:spPr>
          <a:xfrm>
            <a:off x="966366" y="2129016"/>
            <a:ext cx="191368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BUBBLE SORT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4529" y="2460327"/>
            <a:ext cx="2044649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Пузырьковая сортировка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4529" y="3267968"/>
            <a:ext cx="2044649" cy="1668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Флаг </a:t>
            </a:r>
            <a:r>
              <a:rPr lang="en-US" sz="1350" dirty="0">
                <a:solidFill>
                  <a:srgbClr val="E9EEFF"/>
                </a:solidFill>
                <a:highlight>
                  <a:srgbClr val="152060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swapped</a:t>
            </a: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 останавливает цикл при отсутствии перестановок, обеспечивая O(n) на отсортированных данных.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44529" y="5087243"/>
            <a:ext cx="2044649" cy="31651"/>
          </a:xfrm>
          <a:prstGeom prst="roundRect">
            <a:avLst>
              <a:gd name="adj" fmla="val 49998"/>
            </a:avLst>
          </a:prstGeom>
          <a:solidFill>
            <a:srgbClr val="2B3A80"/>
          </a:solidFill>
          <a:ln/>
        </p:spPr>
      </p:sp>
      <p:sp>
        <p:nvSpPr>
          <p:cNvPr id="11" name="Text 9"/>
          <p:cNvSpPr/>
          <p:nvPr/>
        </p:nvSpPr>
        <p:spPr>
          <a:xfrm>
            <a:off x="844529" y="5269964"/>
            <a:ext cx="227959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Худшее: O(n²) · Лучшее: O(n)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8914" y="1829197"/>
            <a:ext cx="2514537" cy="3865364"/>
          </a:xfrm>
          <a:prstGeom prst="roundRect">
            <a:avLst>
              <a:gd name="adj" fmla="val 4849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63858" y="2064147"/>
            <a:ext cx="1863282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14" name="Text 12"/>
          <p:cNvSpPr/>
          <p:nvPr/>
        </p:nvSpPr>
        <p:spPr>
          <a:xfrm>
            <a:off x="3785696" y="2129016"/>
            <a:ext cx="215775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SELECTION SORT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63858" y="2460327"/>
            <a:ext cx="2044649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Сортировка выбором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63858" y="3267968"/>
            <a:ext cx="2044649" cy="118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Не более n−1 обменов за весь проход. Текущий кандидат на минимум помечается звездой (★).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63858" y="4601468"/>
            <a:ext cx="2044649" cy="31651"/>
          </a:xfrm>
          <a:prstGeom prst="roundRect">
            <a:avLst>
              <a:gd name="adj" fmla="val 49998"/>
            </a:avLst>
          </a:prstGeom>
          <a:solidFill>
            <a:srgbClr val="2B3A80"/>
          </a:solidFill>
          <a:ln/>
        </p:spPr>
      </p:sp>
      <p:sp>
        <p:nvSpPr>
          <p:cNvPr id="18" name="Text 16"/>
          <p:cNvSpPr/>
          <p:nvPr/>
        </p:nvSpPr>
        <p:spPr>
          <a:xfrm>
            <a:off x="3663858" y="4784189"/>
            <a:ext cx="2044649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Сравнения: O(n²) · Обмены: O(n)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8244" y="1829197"/>
            <a:ext cx="2514537" cy="3865364"/>
          </a:xfrm>
          <a:prstGeom prst="roundRect">
            <a:avLst>
              <a:gd name="adj" fmla="val 4849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3188" y="2064147"/>
            <a:ext cx="1831433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21" name="Text 19"/>
          <p:cNvSpPr/>
          <p:nvPr/>
        </p:nvSpPr>
        <p:spPr>
          <a:xfrm>
            <a:off x="6605025" y="2129016"/>
            <a:ext cx="215775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INSERTION SORT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83188" y="2460327"/>
            <a:ext cx="2044649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Сортировка вставками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83188" y="3267968"/>
            <a:ext cx="2044649" cy="141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Максимально адаптивен: на почти упорядоченном массиве совершает минимум сдвигов и опережает сложные методы.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83188" y="4838005"/>
            <a:ext cx="2044649" cy="31651"/>
          </a:xfrm>
          <a:prstGeom prst="roundRect">
            <a:avLst>
              <a:gd name="adj" fmla="val 49998"/>
            </a:avLst>
          </a:prstGeom>
          <a:solidFill>
            <a:srgbClr val="2B3A80"/>
          </a:solidFill>
          <a:ln/>
        </p:spPr>
      </p:sp>
      <p:sp>
        <p:nvSpPr>
          <p:cNvPr id="25" name="Text 23"/>
          <p:cNvSpPr/>
          <p:nvPr/>
        </p:nvSpPr>
        <p:spPr>
          <a:xfrm>
            <a:off x="6483188" y="5020727"/>
            <a:ext cx="227959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Эффективен для малых 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67573" y="1829197"/>
            <a:ext cx="2514537" cy="3865364"/>
          </a:xfrm>
          <a:prstGeom prst="roundRect">
            <a:avLst>
              <a:gd name="adj" fmla="val 4849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02517" y="2064147"/>
            <a:ext cx="1408077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28" name="Text 26"/>
          <p:cNvSpPr/>
          <p:nvPr/>
        </p:nvSpPr>
        <p:spPr>
          <a:xfrm>
            <a:off x="9424355" y="2129016"/>
            <a:ext cx="177398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SHELL SORT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02517" y="2460327"/>
            <a:ext cx="2044649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Сортировка Шелла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02517" y="3267968"/>
            <a:ext cx="2044649" cy="141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Сравнение элементов на расстоянии gap (n/2, n/4… 1). Наглядно визуализирует расслоение массива на подгруппы.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9302517" y="4838005"/>
            <a:ext cx="2044649" cy="31651"/>
          </a:xfrm>
          <a:prstGeom prst="roundRect">
            <a:avLst>
              <a:gd name="adj" fmla="val 49998"/>
            </a:avLst>
          </a:prstGeom>
          <a:solidFill>
            <a:srgbClr val="2B3A80"/>
          </a:solidFill>
          <a:ln/>
        </p:spPr>
      </p:sp>
      <p:sp>
        <p:nvSpPr>
          <p:cNvPr id="32" name="Text 30"/>
          <p:cNvSpPr/>
          <p:nvPr/>
        </p:nvSpPr>
        <p:spPr>
          <a:xfrm>
            <a:off x="9302517" y="5020727"/>
            <a:ext cx="227959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Асимптотика: O(n log² n)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862985" cy="283865"/>
          </a:xfrm>
          <a:prstGeom prst="roundRect">
            <a:avLst>
              <a:gd name="adj" fmla="val 32212"/>
            </a:avLst>
          </a:prstGeom>
          <a:solidFill>
            <a:srgbClr val="FFC233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324397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06 · АЛГОРИТМЫ ГРУППЫ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64343"/>
            <a:ext cx="10972526" cy="8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Эффективные алгоритмы и </a:t>
            </a:r>
            <a:r>
              <a:rPr lang="en-US" sz="3400" b="1" kern="100" spc="-85" dirty="0">
                <a:solidFill>
                  <a:srgbClr val="FFC233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сортировка без сравнений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2142629"/>
            <a:ext cx="2514537" cy="3384352"/>
          </a:xfrm>
          <a:prstGeom prst="roundRect">
            <a:avLst>
              <a:gd name="adj" fmla="val 4849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4529" y="2377579"/>
            <a:ext cx="1463638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7" name="Text 5"/>
          <p:cNvSpPr/>
          <p:nvPr/>
        </p:nvSpPr>
        <p:spPr>
          <a:xfrm>
            <a:off x="966366" y="2442448"/>
            <a:ext cx="1829548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MERGE SORT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4529" y="2773759"/>
            <a:ext cx="2044649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Сортировка слиянием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4529" y="3581400"/>
            <a:ext cx="2044649" cy="118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Гарантированные O(n log n). Интерфейс чётко отрисовывает границы подмассивов и глубину стека рекурсии.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4529" y="4865846"/>
            <a:ext cx="227959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Память: O(n) · Устойчив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8914" y="2142629"/>
            <a:ext cx="2514537" cy="3384352"/>
          </a:xfrm>
          <a:prstGeom prst="roundRect">
            <a:avLst>
              <a:gd name="adj" fmla="val 4849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63858" y="2377579"/>
            <a:ext cx="1402819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13" name="Text 11"/>
          <p:cNvSpPr/>
          <p:nvPr/>
        </p:nvSpPr>
        <p:spPr>
          <a:xfrm>
            <a:off x="3785696" y="2442448"/>
            <a:ext cx="1768728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QUICK SORT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63858" y="2773759"/>
            <a:ext cx="2044649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Быстрая сортировка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63858" y="3581400"/>
            <a:ext cx="2044649" cy="118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4 режима pivot. На отсортированном массиве с крайним pivot видна деградация до O(n²).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63858" y="4865846"/>
            <a:ext cx="2044649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Среднее: O(n log n) · In-place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48244" y="2142629"/>
            <a:ext cx="2514537" cy="3384352"/>
          </a:xfrm>
          <a:prstGeom prst="roundRect">
            <a:avLst>
              <a:gd name="adj" fmla="val 4849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83188" y="2377579"/>
            <a:ext cx="1312631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19" name="Text 17"/>
          <p:cNvSpPr/>
          <p:nvPr/>
        </p:nvSpPr>
        <p:spPr>
          <a:xfrm>
            <a:off x="6605025" y="2442448"/>
            <a:ext cx="1678541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HEAP SORT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83188" y="2773759"/>
            <a:ext cx="20446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Пирамидальная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83188" y="3272830"/>
            <a:ext cx="2044649" cy="141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Интерактивное бинарное дерево прямо под массивом: разделение на фазы heapify и извлечения корня.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83188" y="4793814"/>
            <a:ext cx="2044649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Гарантия: O(n log n) без доп. памяти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67573" y="2142629"/>
            <a:ext cx="2514537" cy="3384352"/>
          </a:xfrm>
          <a:prstGeom prst="roundRect">
            <a:avLst>
              <a:gd name="adj" fmla="val 4849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02517" y="2377579"/>
            <a:ext cx="1806232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25" name="Text 23"/>
          <p:cNvSpPr/>
          <p:nvPr/>
        </p:nvSpPr>
        <p:spPr>
          <a:xfrm>
            <a:off x="9424355" y="2442448"/>
            <a:ext cx="215775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COUNTING SORT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02517" y="2773759"/>
            <a:ext cx="2044649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Подсчётом (non-comparison)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02517" y="3581400"/>
            <a:ext cx="2044649" cy="141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Ровно 0 сравнений. Отображение вспомогательного массива частот с поддержкой отрицательных чисел.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302517" y="5102384"/>
            <a:ext cx="227959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Время: O(n + k)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220857" cy="283865"/>
          </a:xfrm>
          <a:prstGeom prst="roundRect">
            <a:avLst>
              <a:gd name="adj" fmla="val 32212"/>
            </a:avLst>
          </a:prstGeom>
          <a:solidFill>
            <a:srgbClr val="FFC233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60184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07 · РАБОЧЕЕ МЕСТО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143718"/>
            <a:ext cx="6451439" cy="8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Лаборатория: </a:t>
            </a:r>
            <a:r>
              <a:rPr lang="en-US" sz="3400" b="1" kern="100" spc="-85" dirty="0">
                <a:solidFill>
                  <a:srgbClr val="FFC233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главный рабочий стенд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2222004"/>
            <a:ext cx="3149521" cy="1936948"/>
          </a:xfrm>
          <a:prstGeom prst="roundRect">
            <a:avLst>
              <a:gd name="adj" fmla="val 6294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2456954"/>
            <a:ext cx="267963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Генерация наборов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4529" y="2956024"/>
            <a:ext cx="2679633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5 режимов генератора, включая ручной ввод значений от −999 до 999 и регулировку размера до 100 элементов.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911502" y="2222004"/>
            <a:ext cx="3149521" cy="1936948"/>
          </a:xfrm>
          <a:prstGeom prst="roundRect">
            <a:avLst>
              <a:gd name="adj" fmla="val 6294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46446" y="2456954"/>
            <a:ext cx="267963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Цветовая семантика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46446" y="2956024"/>
            <a:ext cx="2679633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Жёлтый: ? сравнение · Голубой: ⇄ обмен · Оранжевый: P опорный · Розовый: ★ минимум · Зелёный: ✓ отсортировано.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9585" y="4311352"/>
            <a:ext cx="3149521" cy="1937048"/>
          </a:xfrm>
          <a:prstGeom prst="roundRect">
            <a:avLst>
              <a:gd name="adj" fmla="val 6294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529" y="4546302"/>
            <a:ext cx="267963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Живой комментатор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4529" y="5045373"/>
            <a:ext cx="2679633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Блок «Что происходит сейчас?» формулирует текущую операцию понятным русским языком.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911502" y="4311352"/>
            <a:ext cx="3149521" cy="1937048"/>
          </a:xfrm>
          <a:prstGeom prst="roundRect">
            <a:avLst>
              <a:gd name="adj" fmla="val 6294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46446" y="4546302"/>
            <a:ext cx="267963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Экспорт результатов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46446" y="5045373"/>
            <a:ext cx="2679633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7 метрик в реальном времени и выгрузка протокола эксперимента в CSV для лабораторных отчетов.</a:t>
            </a:r>
            <a:endParaRPr lang="en-US" sz="13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17" y="0"/>
            <a:ext cx="812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231771" cy="283865"/>
          </a:xfrm>
          <a:prstGeom prst="roundRect">
            <a:avLst>
              <a:gd name="adj" fmla="val 32212"/>
            </a:avLst>
          </a:prstGeom>
          <a:solidFill>
            <a:srgbClr val="9BD33A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612761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08 · ЭКСПЕРИМЕНТЫ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64343"/>
            <a:ext cx="6309262" cy="132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Честное </a:t>
            </a:r>
            <a:r>
              <a:rPr lang="en-US" sz="3400" b="1" kern="100" spc="-85" dirty="0" err="1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сравнение</a:t>
            </a:r>
            <a:r>
              <a:rPr lang="en-US" sz="3400" b="1" kern="100" spc="-85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 </a:t>
            </a:r>
            <a:r>
              <a:rPr lang="en-US" sz="3400" b="1" kern="100" spc="-85" dirty="0">
                <a:solidFill>
                  <a:srgbClr val="9BD33A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 алгоритмов на одном массиве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506861"/>
            <a:ext cx="6309262" cy="31546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741055"/>
            <a:ext cx="6918846" cy="272355"/>
          </a:xfrm>
          <a:prstGeom prst="rect">
            <a:avLst/>
          </a:prstGeom>
          <a:noFill/>
          <a:ln/>
        </p:spPr>
        <p:txBody>
          <a:bodyPr wrap="none" lIns="0" tIns="76198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1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Замер числа операций сравнения на случайном массиве (n = 50)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833124" y="0"/>
            <a:ext cx="4358571" cy="6858000"/>
          </a:xfrm>
          <a:prstGeom prst="roundRect">
            <a:avLst>
              <a:gd name="adj" fmla="val 2797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49059" y="1719163"/>
            <a:ext cx="3126701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Чистая физика вычислений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449059" y="2663924"/>
            <a:ext cx="3126701" cy="1195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Каждый участник получает идентичный клон исходного массива. Время замеряется через </a:t>
            </a:r>
            <a:r>
              <a:rPr lang="en-US" sz="1350" dirty="0">
                <a:solidFill>
                  <a:srgbClr val="E9EEFF"/>
                </a:solidFill>
                <a:highlight>
                  <a:srgbClr val="152060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performance.now()</a:t>
            </a: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 изолированно от интерфейса.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449059" y="4010124"/>
            <a:ext cx="3126701" cy="31651"/>
          </a:xfrm>
          <a:prstGeom prst="roundRect">
            <a:avLst>
              <a:gd name="adj" fmla="val 49998"/>
            </a:avLst>
          </a:prstGeom>
          <a:solidFill>
            <a:srgbClr val="2B3A80"/>
          </a:solidFill>
          <a:ln/>
        </p:spPr>
      </p:sp>
      <p:sp>
        <p:nvSpPr>
          <p:cNvPr id="11" name="Text 8"/>
          <p:cNvSpPr/>
          <p:nvPr/>
        </p:nvSpPr>
        <p:spPr>
          <a:xfrm>
            <a:off x="8449059" y="4192687"/>
            <a:ext cx="3126701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4 аналитических графика: сравнения, обмены, время и масштабирование до n = 300 с автоматическим награждением победителей.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6179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Теория, Big O и </a:t>
            </a:r>
            <a:r>
              <a:rPr lang="en-US" sz="3400" b="1" kern="100" spc="-85" dirty="0">
                <a:solidFill>
                  <a:srgbClr val="9BD33A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код на трёх языках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2744192"/>
            <a:ext cx="3454314" cy="1810147"/>
          </a:xfrm>
          <a:prstGeom prst="roundRect">
            <a:avLst>
              <a:gd name="adj" fmla="val 6735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4529" y="2979142"/>
            <a:ext cx="29844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8 глав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4529" y="3478213"/>
            <a:ext cx="2984425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Сложность, устойчивость, in-place, адаптивность, нижняя граница Ω(n log n).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68691" y="2744192"/>
            <a:ext cx="3454314" cy="1810147"/>
          </a:xfrm>
          <a:prstGeom prst="roundRect">
            <a:avLst>
              <a:gd name="adj" fmla="val 6735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03635" y="2979142"/>
            <a:ext cx="29844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Big 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03635" y="3478213"/>
            <a:ext cx="2984425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Ползунок n пересчитывает кривые Big O: при n = 100 это 10 000 операций против 664.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2744192"/>
            <a:ext cx="3454314" cy="1810147"/>
          </a:xfrm>
          <a:prstGeom prst="roundRect">
            <a:avLst>
              <a:gd name="adj" fmla="val 6735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2741" y="2979142"/>
            <a:ext cx="29844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Код на трёх языках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62741" y="3478213"/>
            <a:ext cx="2984425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Каталог: псевдокод, JavaScript и TypeScript с копированием.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644E4B-92C1-3A0F-82E5-E1242ED60907}"/>
              </a:ext>
            </a:extLst>
          </p:cNvPr>
          <p:cNvSpPr txBox="1"/>
          <p:nvPr/>
        </p:nvSpPr>
        <p:spPr>
          <a:xfrm>
            <a:off x="7568417" y="1084958"/>
            <a:ext cx="387174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Corbel" panose="020B0503020204020204" pitchFamily="34" charset="0"/>
              </a:rPr>
              <a:t>1</a:t>
            </a:r>
            <a:r>
              <a:rPr lang="ru-RU" sz="1400" dirty="0">
                <a:solidFill>
                  <a:schemeClr val="bg1"/>
                </a:solidFill>
                <a:latin typeface="Corbel" panose="020B0503020204020204" pitchFamily="34" charset="0"/>
              </a:rPr>
              <a:t>. </a:t>
            </a:r>
            <a:r>
              <a:rPr lang="ru-RU" sz="1400" b="1" dirty="0">
                <a:solidFill>
                  <a:schemeClr val="bg1"/>
                </a:solidFill>
                <a:latin typeface="Corbel" panose="020B0503020204020204" pitchFamily="34" charset="0"/>
              </a:rPr>
              <a:t>Тренажёр «Угадай следующий шаг» (/</a:t>
            </a:r>
            <a:r>
              <a:rPr lang="ru-RU" sz="1400" b="1" dirty="0" err="1">
                <a:solidFill>
                  <a:schemeClr val="bg1"/>
                </a:solidFill>
                <a:latin typeface="Corbel" panose="020B0503020204020204" pitchFamily="34" charset="0"/>
              </a:rPr>
              <a:t>practice</a:t>
            </a:r>
            <a:r>
              <a:rPr lang="ru-RU" sz="1400" b="1" dirty="0">
                <a:solidFill>
                  <a:schemeClr val="bg1"/>
                </a:solidFill>
                <a:latin typeface="Corbel" panose="020B0503020204020204" pitchFamily="34" charset="0"/>
              </a:rPr>
              <a:t>)</a:t>
            </a:r>
            <a:endParaRPr lang="ru-RU" sz="1400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pPr lvl="0"/>
            <a:r>
              <a:rPr lang="ru-RU" sz="1400" dirty="0">
                <a:solidFill>
                  <a:schemeClr val="bg1"/>
                </a:solidFill>
                <a:latin typeface="Corbel" panose="020B0503020204020204" pitchFamily="34" charset="0"/>
              </a:rPr>
              <a:t>- Алгоритм останавливается в реальной точке сортировки</a:t>
            </a:r>
          </a:p>
          <a:p>
            <a:pPr lvl="0"/>
            <a:r>
              <a:rPr lang="ru-RU" sz="1400" dirty="0">
                <a:solidFill>
                  <a:schemeClr val="bg1"/>
                </a:solidFill>
                <a:latin typeface="Corbel" panose="020B0503020204020204" pitchFamily="34" charset="0"/>
              </a:rPr>
              <a:t>Студент предсказывает следующее действие: перестановка или новый минимальный индекс</a:t>
            </a:r>
          </a:p>
          <a:p>
            <a:pPr lvl="0"/>
            <a:r>
              <a:rPr lang="ru-RU" sz="1400" dirty="0">
                <a:solidFill>
                  <a:schemeClr val="bg1"/>
                </a:solidFill>
                <a:latin typeface="Corbel" panose="020B0503020204020204" pitchFamily="34" charset="0"/>
              </a:rPr>
              <a:t>Мгновенный разбор ответа</a:t>
            </a:r>
          </a:p>
          <a:p>
            <a:endParaRPr lang="ru-RU" sz="14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E54A5-295C-56FF-ACF0-925D990B1F79}"/>
              </a:ext>
            </a:extLst>
          </p:cNvPr>
          <p:cNvSpPr txBox="1"/>
          <p:nvPr/>
        </p:nvSpPr>
        <p:spPr>
          <a:xfrm>
            <a:off x="7568417" y="2823457"/>
            <a:ext cx="387174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Corbel" panose="020B0503020204020204" pitchFamily="34" charset="0"/>
              </a:rPr>
              <a:t>2</a:t>
            </a:r>
            <a:r>
              <a:rPr lang="ru-RU" sz="1400" b="1" dirty="0">
                <a:solidFill>
                  <a:schemeClr val="bg1"/>
                </a:solidFill>
                <a:latin typeface="Corbel" panose="020B0503020204020204" pitchFamily="34" charset="0"/>
              </a:rPr>
              <a:t>. Практикум: 9 задач трёх уровней</a:t>
            </a:r>
          </a:p>
          <a:p>
            <a:pPr lvl="0"/>
            <a:r>
              <a:rPr lang="ru-RU" sz="1400" b="1" dirty="0">
                <a:solidFill>
                  <a:schemeClr val="bg1"/>
                </a:solidFill>
                <a:latin typeface="Corbel" panose="020B0503020204020204" pitchFamily="34" charset="0"/>
              </a:rPr>
              <a:t>Базовый: число операций и проходов</a:t>
            </a:r>
          </a:p>
          <a:p>
            <a:pPr lvl="0"/>
            <a:r>
              <a:rPr lang="ru-RU" sz="1400" b="1" dirty="0">
                <a:solidFill>
                  <a:schemeClr val="bg1"/>
                </a:solidFill>
                <a:latin typeface="Corbel" panose="020B0503020204020204" pitchFamily="34" charset="0"/>
              </a:rPr>
              <a:t>Средний: устойчивость и память</a:t>
            </a:r>
          </a:p>
          <a:p>
            <a:pPr lvl="0"/>
            <a:r>
              <a:rPr lang="ru-RU" sz="1400" b="1" dirty="0">
                <a:solidFill>
                  <a:schemeClr val="bg1"/>
                </a:solidFill>
                <a:latin typeface="Corbel" panose="020B0503020204020204" pitchFamily="34" charset="0"/>
              </a:rPr>
              <a:t>Продвинутый: выбор алгоритма под ограничения ОЗУ и тип данных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5DC23-0579-58B6-A0BB-136680C401B1}"/>
              </a:ext>
            </a:extLst>
          </p:cNvPr>
          <p:cNvSpPr txBox="1"/>
          <p:nvPr/>
        </p:nvSpPr>
        <p:spPr>
          <a:xfrm>
            <a:off x="7568416" y="4101167"/>
            <a:ext cx="387174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Corbel" panose="020B0503020204020204" pitchFamily="34" charset="0"/>
              </a:rPr>
              <a:t>3</a:t>
            </a:r>
            <a:r>
              <a:rPr lang="ru-RU" sz="1400" b="1" dirty="0">
                <a:solidFill>
                  <a:schemeClr val="bg1"/>
                </a:solidFill>
                <a:latin typeface="Corbel" panose="020B0503020204020204" pitchFamily="34" charset="0"/>
              </a:rPr>
              <a:t>. Итоговый тест (/</a:t>
            </a:r>
            <a:r>
              <a:rPr lang="ru-RU" sz="1400" b="1" dirty="0" err="1">
                <a:solidFill>
                  <a:schemeClr val="bg1"/>
                </a:solidFill>
                <a:latin typeface="Corbel" panose="020B0503020204020204" pitchFamily="34" charset="0"/>
              </a:rPr>
              <a:t>quiz</a:t>
            </a:r>
            <a:r>
              <a:rPr lang="ru-RU" sz="1400" b="1" dirty="0">
                <a:solidFill>
                  <a:schemeClr val="bg1"/>
                </a:solidFill>
                <a:latin typeface="Corbel" panose="020B0503020204020204" pitchFamily="34" charset="0"/>
              </a:rPr>
              <a:t>)</a:t>
            </a:r>
          </a:p>
          <a:p>
            <a:pPr lvl="0"/>
            <a:r>
              <a:rPr lang="ru-RU" sz="1400" b="1" dirty="0">
                <a:solidFill>
                  <a:schemeClr val="bg1"/>
                </a:solidFill>
                <a:latin typeface="Corbel" panose="020B0503020204020204" pitchFamily="34" charset="0"/>
              </a:rPr>
              <a:t>12 вопросов по 7 темам, счётчик прогресса</a:t>
            </a:r>
          </a:p>
          <a:p>
            <a:pPr lvl="0"/>
            <a:r>
              <a:rPr lang="ru-RU" sz="1400" b="1" dirty="0">
                <a:solidFill>
                  <a:schemeClr val="bg1"/>
                </a:solidFill>
                <a:latin typeface="Corbel" panose="020B0503020204020204" pitchFamily="34" charset="0"/>
              </a:rPr>
              <a:t>Диагностика слабых тем</a:t>
            </a:r>
          </a:p>
          <a:p>
            <a:pPr lvl="0"/>
            <a:r>
              <a:rPr lang="ru-RU" sz="1400" b="1" dirty="0">
                <a:solidFill>
                  <a:schemeClr val="bg1"/>
                </a:solidFill>
                <a:latin typeface="Corbel" panose="020B0503020204020204" pitchFamily="34" charset="0"/>
              </a:rPr>
              <a:t>Кнопки перехода к теории и лаборатории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615F950-D9FB-9EF5-EC02-03FC3C3F4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86" y="1392702"/>
            <a:ext cx="6303309" cy="4432014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9F25EBD0-3A06-51E1-6794-192DDACE4ADB}"/>
              </a:ext>
            </a:extLst>
          </p:cNvPr>
          <p:cNvSpPr/>
          <p:nvPr/>
        </p:nvSpPr>
        <p:spPr>
          <a:xfrm>
            <a:off x="1058204" y="484355"/>
            <a:ext cx="6510213" cy="369333"/>
          </a:xfrm>
          <a:prstGeom prst="roundRect">
            <a:avLst>
              <a:gd name="adj" fmla="val 32212"/>
            </a:avLst>
          </a:prstGeom>
          <a:solidFill>
            <a:srgbClr val="9BD33A"/>
          </a:solidFill>
          <a:ln/>
        </p:spPr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9EFEA001-4FB9-CB1B-D1C9-00807DC15916}"/>
              </a:ext>
            </a:extLst>
          </p:cNvPr>
          <p:cNvSpPr/>
          <p:nvPr/>
        </p:nvSpPr>
        <p:spPr>
          <a:xfrm>
            <a:off x="1192020" y="591436"/>
            <a:ext cx="5950289" cy="262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</a:t>
            </a:r>
            <a:r>
              <a:rPr lang="ru-RU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9</a:t>
            </a: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 · </a:t>
            </a:r>
            <a:r>
              <a:rPr lang="ru-RU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Активное закрепление знаний: Тренажёр, Практикум и Квиз</a:t>
            </a:r>
          </a:p>
          <a:p>
            <a:pPr lvl="0"/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748399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208D9E-D195-6C2C-F5A3-9B12F30F1611}"/>
              </a:ext>
            </a:extLst>
          </p:cNvPr>
          <p:cNvSpPr/>
          <p:nvPr/>
        </p:nvSpPr>
        <p:spPr>
          <a:xfrm>
            <a:off x="643273" y="540627"/>
            <a:ext cx="6098343" cy="317502"/>
          </a:xfrm>
          <a:prstGeom prst="roundRect">
            <a:avLst>
              <a:gd name="adj" fmla="val 32212"/>
            </a:avLst>
          </a:prstGeom>
          <a:solidFill>
            <a:srgbClr val="9BD33A"/>
          </a:solidFill>
          <a:ln/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18D118-49E9-50A0-A8B3-C8B6EA0520B5}"/>
              </a:ext>
            </a:extLst>
          </p:cNvPr>
          <p:cNvSpPr txBox="1"/>
          <p:nvPr/>
        </p:nvSpPr>
        <p:spPr>
          <a:xfrm>
            <a:off x="643272" y="540626"/>
            <a:ext cx="609834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1</a:t>
            </a: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 · </a:t>
            </a:r>
            <a:r>
              <a:rPr lang="ru-RU" sz="1300" kern="100" spc="128" dirty="0">
                <a:solidFill>
                  <a:srgbClr val="0D174F"/>
                </a:solidFill>
                <a:latin typeface="Onest SemiBold" pitchFamily="34" charset="0"/>
              </a:rPr>
              <a:t>Верификация алгоритмов и контроль качества (</a:t>
            </a:r>
            <a:r>
              <a:rPr lang="ru-RU" sz="1300" kern="100" spc="128" dirty="0" err="1">
                <a:solidFill>
                  <a:srgbClr val="0D174F"/>
                </a:solidFill>
                <a:latin typeface="Onest SemiBold" pitchFamily="34" charset="0"/>
              </a:rPr>
              <a:t>Vitest</a:t>
            </a:r>
            <a:r>
              <a:rPr lang="ru-RU" sz="1300" kern="100" spc="128" dirty="0">
                <a:solidFill>
                  <a:srgbClr val="0D174F"/>
                </a:solidFill>
                <a:latin typeface="Onest SemiBold" pitchFamily="34" charset="0"/>
              </a:rPr>
              <a:t>)</a:t>
            </a:r>
          </a:p>
          <a:p>
            <a:pPr lvl="0"/>
            <a:endParaRPr lang="en-US" sz="13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9367B37-02F9-7C0E-DEE7-E6A7AA79D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72" y="1166842"/>
            <a:ext cx="6257631" cy="27572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71D59E-DED1-E6A7-FCB6-6ED4C3F968D4}"/>
              </a:ext>
            </a:extLst>
          </p:cNvPr>
          <p:cNvSpPr txBox="1"/>
          <p:nvPr/>
        </p:nvSpPr>
        <p:spPr>
          <a:xfrm>
            <a:off x="7187743" y="1093112"/>
            <a:ext cx="43609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Corbel" panose="020B0503020204020204" pitchFamily="34" charset="0"/>
              </a:rPr>
              <a:t>Матрица </a:t>
            </a:r>
            <a:r>
              <a:rPr lang="ru-RU" b="1" dirty="0" err="1">
                <a:solidFill>
                  <a:schemeClr val="bg1"/>
                </a:solidFill>
                <a:latin typeface="Corbel" panose="020B0503020204020204" pitchFamily="34" charset="0"/>
              </a:rPr>
              <a:t>автотестов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 (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src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/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algorithms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/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algorithms.test.ts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):</a:t>
            </a:r>
          </a:p>
          <a:p>
            <a:pPr lvl="0"/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- Все 8 алгоритмов, оба направления: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asc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 и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desc</a:t>
            </a:r>
            <a:endParaRPr lang="ru-RU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pPr lvl="0"/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- Граничные случаи: [], [42], 2 элемента, отсортированный, обратный, дубликаты [5, 5, 5, 5]</a:t>
            </a:r>
          </a:p>
          <a:p>
            <a:pPr lvl="0"/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- Отрицательные числа: [-15, 0, 23, -4, -15, 8]</a:t>
            </a:r>
          </a:p>
          <a:p>
            <a:pPr lvl="0"/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- 4 стратегии опорного элемента в Quick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Sort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: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middle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, median3,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last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,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first</a:t>
            </a:r>
            <a:endParaRPr lang="ru-RU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pPr lvl="0"/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- Монотонность счётчиков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stats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 и валидатор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parseCustomArrayInput</a:t>
            </a:r>
            <a:endParaRPr lang="ru-RU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endParaRPr lang="ru-RU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5CE719-E5A6-CA01-9FA8-D94C83CF5256}"/>
              </a:ext>
            </a:extLst>
          </p:cNvPr>
          <p:cNvSpPr txBox="1"/>
          <p:nvPr/>
        </p:nvSpPr>
        <p:spPr>
          <a:xfrm>
            <a:off x="6039848" y="5063430"/>
            <a:ext cx="55088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Corbel" panose="020B0503020204020204" pitchFamily="34" charset="0"/>
              </a:rPr>
              <a:t>Результат: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 Test Files: 1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passed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 |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Tests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: </a:t>
            </a:r>
            <a:r>
              <a:rPr lang="ru-RU" b="1" dirty="0">
                <a:solidFill>
                  <a:schemeClr val="bg1"/>
                </a:solidFill>
                <a:latin typeface="Corbel" panose="020B0503020204020204" pitchFamily="34" charset="0"/>
              </a:rPr>
              <a:t>71 </a:t>
            </a:r>
            <a:r>
              <a:rPr lang="ru-RU" b="1" dirty="0" err="1">
                <a:solidFill>
                  <a:schemeClr val="bg1"/>
                </a:solidFill>
                <a:latin typeface="Corbel" panose="020B0503020204020204" pitchFamily="34" charset="0"/>
              </a:rPr>
              <a:t>passed</a:t>
            </a:r>
            <a:r>
              <a:rPr lang="ru-RU" b="1" dirty="0">
                <a:solidFill>
                  <a:schemeClr val="bg1"/>
                </a:solidFill>
                <a:latin typeface="Corbel" panose="020B0503020204020204" pitchFamily="34" charset="0"/>
              </a:rPr>
              <a:t> (100%)</a:t>
            </a:r>
            <a:endParaRPr lang="ru-RU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318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EFB7FFC7-039F-E7D5-60AB-89D8F42D8036}"/>
              </a:ext>
            </a:extLst>
          </p:cNvPr>
          <p:cNvSpPr/>
          <p:nvPr/>
        </p:nvSpPr>
        <p:spPr>
          <a:xfrm>
            <a:off x="752018" y="534921"/>
            <a:ext cx="4933085" cy="369332"/>
          </a:xfrm>
          <a:prstGeom prst="roundRect">
            <a:avLst>
              <a:gd name="adj" fmla="val 32212"/>
            </a:avLst>
          </a:prstGeom>
          <a:solidFill>
            <a:srgbClr val="FF6A3D"/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B770133-A3F8-924F-937F-01904F5FE6A9}"/>
              </a:ext>
            </a:extLst>
          </p:cNvPr>
          <p:cNvSpPr/>
          <p:nvPr/>
        </p:nvSpPr>
        <p:spPr>
          <a:xfrm>
            <a:off x="894450" y="622104"/>
            <a:ext cx="2207562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ru-RU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13</a:t>
            </a: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 · </a:t>
            </a:r>
            <a:r>
              <a:rPr lang="ru-RU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Демонстрация работы приложения </a:t>
            </a: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SORTLAB</a:t>
            </a:r>
            <a:endParaRPr lang="en-US" sz="13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43DA35-C9C0-DBCB-3B95-00E050EF16B0}"/>
              </a:ext>
            </a:extLst>
          </p:cNvPr>
          <p:cNvSpPr txBox="1"/>
          <p:nvPr/>
        </p:nvSpPr>
        <p:spPr>
          <a:xfrm>
            <a:off x="1181686" y="26025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B18F95-2794-EAA5-F1C4-715118EEB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18" y="1298148"/>
            <a:ext cx="4933085" cy="46555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2B2189-95A6-8074-B500-6E9794B6ED4B}"/>
              </a:ext>
            </a:extLst>
          </p:cNvPr>
          <p:cNvSpPr txBox="1"/>
          <p:nvPr/>
        </p:nvSpPr>
        <p:spPr>
          <a:xfrm>
            <a:off x="6029686" y="1382554"/>
            <a:ext cx="47883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Corbel" panose="020B0503020204020204" pitchFamily="34" charset="0"/>
              </a:rPr>
              <a:t>Сравнение (/</a:t>
            </a:r>
            <a:r>
              <a:rPr lang="ru-RU" b="1" dirty="0" err="1">
                <a:solidFill>
                  <a:schemeClr val="bg1"/>
                </a:solidFill>
                <a:latin typeface="Corbel" panose="020B0503020204020204" pitchFamily="34" charset="0"/>
              </a:rPr>
              <a:t>comparison</a:t>
            </a:r>
            <a:r>
              <a:rPr lang="ru-RU" b="1" dirty="0">
                <a:solidFill>
                  <a:schemeClr val="bg1"/>
                </a:solidFill>
                <a:latin typeface="Corbel" panose="020B0503020204020204" pitchFamily="34" charset="0"/>
              </a:rPr>
              <a:t>):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 забег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Bubble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,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Insertion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 на одном массиве; графики масштабирования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3844024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8CBF79-00D0-0474-2608-EAE2B6B77AB1}"/>
              </a:ext>
            </a:extLst>
          </p:cNvPr>
          <p:cNvSpPr txBox="1"/>
          <p:nvPr/>
        </p:nvSpPr>
        <p:spPr>
          <a:xfrm>
            <a:off x="1195754" y="365760"/>
            <a:ext cx="680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kern="100" spc="-85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Основные результаты</a:t>
            </a:r>
            <a:r>
              <a:rPr lang="en-US" sz="3200" b="1" kern="100" spc="-85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 </a:t>
            </a:r>
            <a:r>
              <a:rPr lang="ru-RU" sz="3200" b="1" kern="100" spc="-85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и </a:t>
            </a:r>
            <a:r>
              <a:rPr lang="ru-RU" sz="3200" b="1" kern="100" spc="-85" dirty="0">
                <a:solidFill>
                  <a:srgbClr val="FF6A3D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выводы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63CA53-B752-80D1-CFD2-74EE8D39CCCD}"/>
              </a:ext>
            </a:extLst>
          </p:cNvPr>
          <p:cNvSpPr txBox="1"/>
          <p:nvPr/>
        </p:nvSpPr>
        <p:spPr>
          <a:xfrm>
            <a:off x="787791" y="1576892"/>
            <a:ext cx="2433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Разработана и упакована в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Docker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 интерактивная платформа </a:t>
            </a:r>
            <a:r>
              <a:rPr lang="ru-RU" b="1" dirty="0">
                <a:solidFill>
                  <a:schemeClr val="bg1"/>
                </a:solidFill>
                <a:latin typeface="Corbel" panose="020B0503020204020204" pitchFamily="34" charset="0"/>
              </a:rPr>
              <a:t>SORTLAB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 на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React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 +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TypeScript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 +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Vite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 +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Tailwind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 CSS</a:t>
            </a:r>
          </a:p>
          <a:p>
            <a:endParaRPr lang="ru-RU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365B1-0EE5-8ADE-0128-36C793EEFA32}"/>
              </a:ext>
            </a:extLst>
          </p:cNvPr>
          <p:cNvSpPr txBox="1"/>
          <p:nvPr/>
        </p:nvSpPr>
        <p:spPr>
          <a:xfrm>
            <a:off x="3221502" y="1576892"/>
            <a:ext cx="243371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С нуля реализованы </a:t>
            </a:r>
            <a:r>
              <a:rPr lang="ru-RU" b="1" dirty="0">
                <a:solidFill>
                  <a:schemeClr val="bg1"/>
                </a:solidFill>
                <a:latin typeface="Corbel" panose="020B0503020204020204" pitchFamily="34" charset="0"/>
              </a:rPr>
              <a:t>8 алгоритмов сортировки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: два направления (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asc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/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desc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), 4 стратегии опорного элемента в Quick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Sort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, визуализация вспомогательных структур (двоичная куча,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gap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-подгруппы, таблица частот)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6DAA64-D300-6696-AF1F-F91673BAACA0}"/>
              </a:ext>
            </a:extLst>
          </p:cNvPr>
          <p:cNvSpPr txBox="1"/>
          <p:nvPr/>
        </p:nvSpPr>
        <p:spPr>
          <a:xfrm>
            <a:off x="5866347" y="1575032"/>
            <a:ext cx="2433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Создано ядро </a:t>
            </a:r>
            <a:r>
              <a:rPr lang="ru-RU" b="1" dirty="0" err="1">
                <a:solidFill>
                  <a:schemeClr val="bg1"/>
                </a:solidFill>
                <a:latin typeface="Corbel" panose="020B0503020204020204" pitchFamily="34" charset="0"/>
              </a:rPr>
              <a:t>StepRecorder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: двунаправленная навигация по шагам и точная статистика в реальном времени</a:t>
            </a: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B08BC6-4859-877D-FF22-321C9BEA03C7}"/>
              </a:ext>
            </a:extLst>
          </p:cNvPr>
          <p:cNvSpPr txBox="1"/>
          <p:nvPr/>
        </p:nvSpPr>
        <p:spPr>
          <a:xfrm>
            <a:off x="8511192" y="1575032"/>
            <a:ext cx="24337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Реализованы стенд сравнения до 4 алгоритмов, справочник с симулятором Big </a:t>
            </a:r>
            <a:r>
              <a:rPr lang="ru-RU" dirty="0" err="1">
                <a:solidFill>
                  <a:schemeClr val="bg1"/>
                </a:solidFill>
                <a:latin typeface="Corbel" panose="020B0503020204020204" pitchFamily="34" charset="0"/>
              </a:rPr>
              <a:t>O</a:t>
            </a:r>
            <a:r>
              <a:rPr lang="ru-RU" dirty="0">
                <a:solidFill>
                  <a:schemeClr val="bg1"/>
                </a:solidFill>
                <a:latin typeface="Corbel" panose="020B0503020204020204" pitchFamily="34" charset="0"/>
              </a:rPr>
              <a:t>, тренажёр, практикум и тестирование знаний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7118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1F72F4-1C04-C5D9-FFCE-603C7C25805F}"/>
              </a:ext>
            </a:extLst>
          </p:cNvPr>
          <p:cNvSpPr txBox="1"/>
          <p:nvPr/>
        </p:nvSpPr>
        <p:spPr>
          <a:xfrm>
            <a:off x="1968588" y="2228671"/>
            <a:ext cx="82548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kern="100" spc="-85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Спасибо за внимание! </a:t>
            </a:r>
          </a:p>
          <a:p>
            <a:pPr algn="ctr"/>
            <a:r>
              <a:rPr lang="ru-RU" sz="3600" b="1" kern="100" spc="-85" dirty="0">
                <a:solidFill>
                  <a:srgbClr val="FF6A3D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Готовы ответить на ваши вопросы.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17232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1394</Words>
  <Application>Microsoft Macintosh PowerPoint</Application>
  <PresentationFormat>Широкоэкранный</PresentationFormat>
  <Paragraphs>168</Paragraphs>
  <Slides>15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Consolas</vt:lpstr>
      <vt:lpstr>Corbel</vt:lpstr>
      <vt:lpstr>Onest</vt:lpstr>
      <vt:lpstr>Noto Sans Bold</vt:lpstr>
      <vt:lpstr>Onest SemiBold</vt:lpstr>
      <vt:lpstr>Arial</vt:lpstr>
      <vt:lpstr>Onest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Adele Wolf</cp:lastModifiedBy>
  <cp:revision>2</cp:revision>
  <dcterms:created xsi:type="dcterms:W3CDTF">2026-10-29T05:28:13Z</dcterms:created>
  <dcterms:modified xsi:type="dcterms:W3CDTF">2026-10-29T06:22:17Z</dcterms:modified>
</cp:coreProperties>
</file>